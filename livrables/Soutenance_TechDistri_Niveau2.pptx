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7de40b4d4f4461" /><Relationship Type="http://schemas.openxmlformats.org/officeDocument/2006/relationships/extended-properties" Target="/docProps/app.xml" Id="R6923aada28e545f3" /><Relationship Type="http://schemas.openxmlformats.org/officeDocument/2006/relationships/officeDocument" Target="/ppt/presentation.xml" Id="R46897e6db81f41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858dcde710487d"/>
  </p:sldMasterIdLst>
  <p:notesMasterIdLst>
    <p:notesMasterId xmlns:r="http://schemas.openxmlformats.org/officeDocument/2006/relationships" r:id="R06e6b2bfb11741ab"/>
  </p:notesMasterIdLst>
  <p:sldIdLst>
    <p:sldId xmlns:r="http://schemas.openxmlformats.org/officeDocument/2006/relationships" id="256" r:id="R36e05c061e2147ec"/>
    <p:sldId xmlns:r="http://schemas.openxmlformats.org/officeDocument/2006/relationships" id="257" r:id="R7c28f4987ccc4815"/>
    <p:sldId xmlns:r="http://schemas.openxmlformats.org/officeDocument/2006/relationships" id="258" r:id="R57e9cdf2d56c4cd2"/>
    <p:sldId xmlns:r="http://schemas.openxmlformats.org/officeDocument/2006/relationships" id="259" r:id="Rbc85b8cc1b5648d3"/>
    <p:sldId xmlns:r="http://schemas.openxmlformats.org/officeDocument/2006/relationships" id="260" r:id="R1a5195b40e474101"/>
    <p:sldId xmlns:r="http://schemas.openxmlformats.org/officeDocument/2006/relationships" id="261" r:id="R7b99ff8dcc3c4644"/>
    <p:sldId xmlns:r="http://schemas.openxmlformats.org/officeDocument/2006/relationships" id="262" r:id="R505946dde724488b"/>
    <p:sldId xmlns:r="http://schemas.openxmlformats.org/officeDocument/2006/relationships" id="263" r:id="Rff0cddf4d166462e"/>
    <p:sldId xmlns:r="http://schemas.openxmlformats.org/officeDocument/2006/relationships" id="264" r:id="R8bfd60bd851043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a559ebd9d6447a" /><Relationship Type="http://schemas.openxmlformats.org/officeDocument/2006/relationships/slideMaster" Target="/ppt/slideMasters/slideMaster1.xml" Id="R0f858dcde710487d" /><Relationship Type="http://schemas.openxmlformats.org/officeDocument/2006/relationships/notesMaster" Target="/ppt/notesMasters/notesMaster1.xml" Id="R06e6b2bfb11741ab" /><Relationship Type="http://schemas.openxmlformats.org/officeDocument/2006/relationships/presProps" Target="/ppt/presProps.xml" Id="Rf07dc0faccec4b67" /><Relationship Type="http://schemas.openxmlformats.org/officeDocument/2006/relationships/tableStyles" Target="/ppt/tableStyles.xml" Id="R93393436293840b1" /><Relationship Type="http://schemas.openxmlformats.org/officeDocument/2006/relationships/slide" Target="/ppt/slides/slide1.xml" Id="R36e05c061e2147ec" /><Relationship Type="http://schemas.openxmlformats.org/officeDocument/2006/relationships/slide" Target="/ppt/slides/slide2.xml" Id="R7c28f4987ccc4815" /><Relationship Type="http://schemas.openxmlformats.org/officeDocument/2006/relationships/slide" Target="/ppt/slides/slide3.xml" Id="R57e9cdf2d56c4cd2" /><Relationship Type="http://schemas.openxmlformats.org/officeDocument/2006/relationships/slide" Target="/ppt/slides/slide4.xml" Id="Rbc85b8cc1b5648d3" /><Relationship Type="http://schemas.openxmlformats.org/officeDocument/2006/relationships/slide" Target="/ppt/slides/slide5.xml" Id="R1a5195b40e474101" /><Relationship Type="http://schemas.openxmlformats.org/officeDocument/2006/relationships/slide" Target="/ppt/slides/slide6.xml" Id="R7b99ff8dcc3c4644" /><Relationship Type="http://schemas.openxmlformats.org/officeDocument/2006/relationships/slide" Target="/ppt/slides/slide7.xml" Id="R505946dde724488b" /><Relationship Type="http://schemas.openxmlformats.org/officeDocument/2006/relationships/slide" Target="/ppt/slides/slide8.xml" Id="Rff0cddf4d166462e" /><Relationship Type="http://schemas.openxmlformats.org/officeDocument/2006/relationships/slide" Target="/ppt/slides/slide9.xml" Id="R8bfd60bd851043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01e08e378f43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60051b76684fc9" /><Relationship Type="http://schemas.openxmlformats.org/officeDocument/2006/relationships/notesMaster" Target="/ppt/notesMasters/notesMaster1.xml" Id="R065d7c2ab03e45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ce115c276a49de" /><Relationship Type="http://schemas.openxmlformats.org/officeDocument/2006/relationships/notesMaster" Target="/ppt/notesMasters/notesMaster1.xml" Id="Ra1043ba427224f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a0a79e220a474b" /><Relationship Type="http://schemas.openxmlformats.org/officeDocument/2006/relationships/notesMaster" Target="/ppt/notesMasters/notesMaster1.xml" Id="R91705d02922245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0b29413df14f72" /><Relationship Type="http://schemas.openxmlformats.org/officeDocument/2006/relationships/notesMaster" Target="/ppt/notesMasters/notesMaster1.xml" Id="Rafca723e8f2e47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c34afac9094f88" /><Relationship Type="http://schemas.openxmlformats.org/officeDocument/2006/relationships/notesMaster" Target="/ppt/notesMasters/notesMaster1.xml" Id="R7d712d95703345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415d92c17b4f14" /><Relationship Type="http://schemas.openxmlformats.org/officeDocument/2006/relationships/notesMaster" Target="/ppt/notesMasters/notesMaster1.xml" Id="R3b68470ab0a343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3d38e8658944b0" /><Relationship Type="http://schemas.openxmlformats.org/officeDocument/2006/relationships/notesMaster" Target="/ppt/notesMasters/notesMaster1.xml" Id="R1f60caa4cc3242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2b90aaf8ff4261" /><Relationship Type="http://schemas.openxmlformats.org/officeDocument/2006/relationships/notesMaster" Target="/ppt/notesMasters/notesMaster1.xml" Id="R4c2445ec6fe044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c254ba3cf34a68" /><Relationship Type="http://schemas.openxmlformats.org/officeDocument/2006/relationships/notesMaster" Target="/ppt/notesMasters/notesMaster1.xml" Id="R0b451b027a6845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la promesse en une phrase : retrouver un échange client en quelques secondes.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Brief TechDistri.docx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Brief TechDistri.docx — contexte : 8 000 à 10 000 emails/mois, 12 minutes et 25 % d’échec.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Suivre le flux de gauche à droite, puis préciser que les secrets restent dans les credentials n8n.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et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les deux clés : Clé rapprochement et Gmail Message ID.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airtable/SCHEMA.md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Montrer dans n8n les groupes de nœuds correspondant aux cinq étapes.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workflows/WF01_Ingestion_Gmail_GED.json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workflows/WF01_Ingestion_Gmail_GED.json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docs/NOTE_ROI.md — hypothèses : 9 000 emails/mois, recherche de 12 à 1 minute.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Conserver une vidéo de secours de cette séquence.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docs/TESTS.md et demo/JEU_EMAILS.md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Terminer par la décision : démontrer la valeur sans élargir prématurément le périmètre.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et docs/TESTS.md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4a31bfda644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5ecb3e356a463f" /><Relationship Type="http://schemas.openxmlformats.org/officeDocument/2006/relationships/slideLayout" Target="/ppt/slideLayouts/slideLayout1.xml" Id="R545bcbadabee44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5bcbadabee44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a86eebe854dac" /><Relationship Type="http://schemas.openxmlformats.org/officeDocument/2006/relationships/notesSlide" Target="/ppt/notesSlides/notesSlide1.xml" Id="R443267ada88347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0b800129949c8" /><Relationship Type="http://schemas.openxmlformats.org/officeDocument/2006/relationships/notesSlide" Target="/ppt/notesSlides/notesSlide2.xml" Id="Reabf55cdfa6249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16c7dfe7a4a11" /><Relationship Type="http://schemas.openxmlformats.org/officeDocument/2006/relationships/notesSlide" Target="/ppt/notesSlides/notesSlide3.xml" Id="R414fda4e416445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91a8af4ac4e4d" /><Relationship Type="http://schemas.openxmlformats.org/officeDocument/2006/relationships/notesSlide" Target="/ppt/notesSlides/notesSlide4.xml" Id="R1dd957aeb81343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8230deeed4e4a" /><Relationship Type="http://schemas.openxmlformats.org/officeDocument/2006/relationships/notesSlide" Target="/ppt/notesSlides/notesSlide5.xml" Id="R369b41c54c4f44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be08aaf1246f7" /><Relationship Type="http://schemas.openxmlformats.org/officeDocument/2006/relationships/notesSlide" Target="/ppt/notesSlides/notesSlide6.xml" Id="R3ec553ad3e3a45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275f1b00f44ad" /><Relationship Type="http://schemas.openxmlformats.org/officeDocument/2006/relationships/chart" Target="/ppt/slides/charts/chart1.xml" Id="R6f7627272b284c66" /><Relationship Type="http://schemas.openxmlformats.org/officeDocument/2006/relationships/notesSlide" Target="/ppt/notesSlides/notesSlide7.xml" Id="R55eb07b0831746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13c7d12084679" /><Relationship Type="http://schemas.openxmlformats.org/officeDocument/2006/relationships/notesSlide" Target="/ppt/notesSlides/notesSlide8.xml" Id="Rcdb04c3838cf4b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681a3fd4a4e60" /><Relationship Type="http://schemas.openxmlformats.org/officeDocument/2006/relationships/notesSlide" Target="/ppt/notesSlides/notesSlide9.xml" Id="Ra6b66b9fb8314c7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Heures économisées / mois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Prudent · 2 %</c:v>
              </c:pt>
              <c:pt idx="1">
                <c:v>Central · 5 %</c:v>
              </c:pt>
              <c:pt idx="2">
                <c:v>Haut · 10 %</c:v>
              </c:pt>
            </c:strLit>
          </c:cat>
          <c:val>
            <c:numLit>
              <c:formatCode>General</c:formatCode>
              <c:ptCount val="3"/>
              <c:pt idx="0">
                <c:v>33</c:v>
              </c:pt>
              <c:pt idx="1">
                <c:v>82.5</c:v>
              </c:pt>
              <c:pt idx="2">
                <c:v>165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16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uper">
            <a:extLst xmlns:a="http://schemas.openxmlformats.org/drawingml/2006/main">
              <a:ext uri="{FF2B5EF4-FFF2-40B4-BE49-F238E27FC236}">
                <a16:creationId xmlns:a16="http://schemas.microsoft.com/office/drawing/2014/main" id="{220D66E5-9733-4B27-84C5-A1464EAB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PROJET FORMATION NOCODE AVANCÉ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207738A-8A6A-4B53-901E-D61371BB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GED TechDistri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43CE932-7084-4785-9F08-3B2D0F7C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Centraliser automatiquement chaque email et chaque pièce jointe</a:t>
            </a:r>
          </a:p>
        </p:txBody>
      </p:sp>
      <p:sp>
        <p:nvSpPr>
          <p:cNvPr id="4" name="stack">
            <a:extLst xmlns:a="http://schemas.openxmlformats.org/drawingml/2006/main">
              <a:ext uri="{FF2B5EF4-FFF2-40B4-BE49-F238E27FC236}">
                <a16:creationId xmlns:a16="http://schemas.microsoft.com/office/drawing/2014/main" id="{768186A5-29D7-4B59-A207-DF159584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n8n · Airtable · Google Drive · Gmail</a:t>
            </a:r>
          </a:p>
        </p:txBody>
      </p:sp>
      <p:sp>
        <p:nvSpPr>
          <p:cNvPr id="5" name="level">
            <a:extLst xmlns:a="http://schemas.openxmlformats.org/drawingml/2006/main">
              <a:ext uri="{FF2B5EF4-FFF2-40B4-BE49-F238E27FC236}">
                <a16:creationId xmlns:a16="http://schemas.microsoft.com/office/drawing/2014/main" id="{00C6DDD5-9BB3-42B2-BABA-383B9FF4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91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NIVEAU 2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5927380-AD7C-484E-AD02-A00CA7CE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Projet GED NoCode · techdistriesgi@gmail.com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1FDDD9EF-6F58-41A8-8DEE-D91A113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5736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B9B6BD9F-4DEF-4246-A9D5-8B870143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TECHDISTRI · NIVEAU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81850E-6E59-4421-B78B-5B4ED06C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 coût caché vient surtout de la recherche dispersée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1F3A5F8D-DCF0-41F4-AAC1-EA7E8D11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Emails, pièces jointes et historique client sont répartis entre messagerie, dossiers Windows et mémoire collective.</a:t>
            </a:r>
          </a:p>
        </p:txBody>
      </p:sp>
      <p:sp>
        <p:nvSpPr>
          <p:cNvPr id="4" name="stat-bg-0">
            <a:extLst xmlns:a="http://schemas.openxmlformats.org/drawingml/2006/main">
              <a:ext uri="{FF2B5EF4-FFF2-40B4-BE49-F238E27FC236}">
                <a16:creationId xmlns:a16="http://schemas.microsoft.com/office/drawing/2014/main" id="{8CADB992-ACBE-4128-9387-009B8061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3381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-0">
            <a:extLst xmlns:a="http://schemas.openxmlformats.org/drawingml/2006/main">
              <a:ext uri="{FF2B5EF4-FFF2-40B4-BE49-F238E27FC236}">
                <a16:creationId xmlns:a16="http://schemas.microsoft.com/office/drawing/2014/main" id="{DAE69993-4591-418C-BBAD-17AC3E35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8860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9 000</a:t>
            </a:r>
          </a:p>
        </p:txBody>
      </p:sp>
      <p:sp>
        <p:nvSpPr>
          <p:cNvPr id="6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12B92ED8-067C-48A7-875C-971E6E0A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2886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emails / mois</a:t>
            </a:r>
          </a:p>
        </p:txBody>
      </p:sp>
      <p:sp>
        <p:nvSpPr>
          <p:cNvPr id="7" name="stat-bg-1">
            <a:extLst xmlns:a="http://schemas.openxmlformats.org/drawingml/2006/main">
              <a:ext uri="{FF2B5EF4-FFF2-40B4-BE49-F238E27FC236}">
                <a16:creationId xmlns:a16="http://schemas.microsoft.com/office/drawing/2014/main" id="{B19EAB80-2960-497B-8DFB-1CD790A6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381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-1">
            <a:extLst xmlns:a="http://schemas.openxmlformats.org/drawingml/2006/main">
              <a:ext uri="{FF2B5EF4-FFF2-40B4-BE49-F238E27FC236}">
                <a16:creationId xmlns:a16="http://schemas.microsoft.com/office/drawing/2014/main" id="{6938F5D0-F048-452B-B994-2C50FCF0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28860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 min</a:t>
            </a:r>
          </a:p>
        </p:txBody>
      </p:sp>
      <p:sp>
        <p:nvSpPr>
          <p:cNvPr id="9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69CBB37A-8295-482D-8E73-356861F4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38625"/>
            <a:ext cx="2886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 recherche</a:t>
            </a:r>
          </a:p>
        </p:txBody>
      </p:sp>
      <p:sp>
        <p:nvSpPr>
          <p:cNvPr id="10" name="stat-bg-2">
            <a:extLst xmlns:a="http://schemas.openxmlformats.org/drawingml/2006/main">
              <a:ext uri="{FF2B5EF4-FFF2-40B4-BE49-F238E27FC236}">
                <a16:creationId xmlns:a16="http://schemas.microsoft.com/office/drawing/2014/main" id="{6F27712D-E8F3-4D43-9833-2DEC41F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381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97DA5632-EED9-4FAA-A3FE-8AF81C98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0"/>
            <a:ext cx="28860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 sur 4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01FA6FA2-1178-4180-AB36-1F840B42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2886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recherche en échec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AAD3DB7-ABB5-4C03-A254-09401E81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Projet GED NoCode · techdistriesgi@gmail.com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218BF11-6F0E-48A4-A800-998A020B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05200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665FE79A-CFBD-4B5F-9B7F-8096FF6F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TECHDISTRI · NIVEAU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9C39F2-4AE2-4DDC-8800-3789CB1A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Une chaîne unique relie la boîte mail aux documents</a:t>
            </a:r>
          </a:p>
        </p:txBody>
      </p:sp>
      <p:sp>
        <p:nvSpPr>
          <p:cNvPr id="3" name="arrow-0">
            <a:extLst xmlns:a="http://schemas.openxmlformats.org/drawingml/2006/main">
              <a:ext uri="{FF2B5EF4-FFF2-40B4-BE49-F238E27FC236}">
                <a16:creationId xmlns:a16="http://schemas.microsoft.com/office/drawing/2014/main" id="{407C15ED-8867-4FAC-9F01-5979AECC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19400"/>
            <a:ext cx="6667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row-1">
            <a:extLst xmlns:a="http://schemas.openxmlformats.org/drawingml/2006/main">
              <a:ext uri="{FF2B5EF4-FFF2-40B4-BE49-F238E27FC236}">
                <a16:creationId xmlns:a16="http://schemas.microsoft.com/office/drawing/2014/main" id="{5CB02B35-67EB-4990-9B3F-AFF2B402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6667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2">
            <a:extLst xmlns:a="http://schemas.openxmlformats.org/drawingml/2006/main">
              <a:ext uri="{FF2B5EF4-FFF2-40B4-BE49-F238E27FC236}">
                <a16:creationId xmlns:a16="http://schemas.microsoft.com/office/drawing/2014/main" id="{97FF73C0-F08D-447F-AB7C-9B0CD7D6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19400"/>
            <a:ext cx="6667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3">
            <a:extLst xmlns:a="http://schemas.openxmlformats.org/drawingml/2006/main">
              <a:ext uri="{FF2B5EF4-FFF2-40B4-BE49-F238E27FC236}">
                <a16:creationId xmlns:a16="http://schemas.microsoft.com/office/drawing/2014/main" id="{B0748D97-1AE3-4FCE-B6D1-8D306C71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19400"/>
            <a:ext cx="6667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de-0">
            <a:extLst xmlns:a="http://schemas.openxmlformats.org/drawingml/2006/main">
              <a:ext uri="{FF2B5EF4-FFF2-40B4-BE49-F238E27FC236}">
                <a16:creationId xmlns:a16="http://schemas.microsoft.com/office/drawing/2014/main" id="{360D0BAD-A159-4ABA-B548-146AFB45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title-0">
            <a:extLst xmlns:a="http://schemas.openxmlformats.org/drawingml/2006/main">
              <a:ext uri="{FF2B5EF4-FFF2-40B4-BE49-F238E27FC236}">
                <a16:creationId xmlns:a16="http://schemas.microsoft.com/office/drawing/2014/main" id="{65AF7931-F63C-4CE4-8145-D14431E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Gmail</a:t>
            </a:r>
          </a:p>
        </p:txBody>
      </p:sp>
      <p:sp>
        <p:nvSpPr>
          <p:cNvPr id="9" name="node-sub-0">
            <a:extLst xmlns:a="http://schemas.openxmlformats.org/drawingml/2006/main">
              <a:ext uri="{FF2B5EF4-FFF2-40B4-BE49-F238E27FC236}">
                <a16:creationId xmlns:a16="http://schemas.microsoft.com/office/drawing/2014/main" id="{0FA9B344-ADB0-4EF0-B843-ED305ADA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Détection 5 min</a:t>
            </a:r>
          </a:p>
        </p:txBody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162856BC-1DD8-4870-B7AB-2B55E222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63DED480-86E0-480C-9875-31178CFF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n8n</a:t>
            </a:r>
          </a:p>
        </p:txBody>
      </p:sp>
      <p:sp>
        <p:nvSpPr>
          <p:cNvPr id="12" name="node-sub-1">
            <a:extLst xmlns:a="http://schemas.openxmlformats.org/drawingml/2006/main">
              <a:ext uri="{FF2B5EF4-FFF2-40B4-BE49-F238E27FC236}">
                <a16:creationId xmlns:a16="http://schemas.microsoft.com/office/drawing/2014/main" id="{4D13B1DE-9DC3-43B4-958B-F271F102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95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Orchestration</a:t>
            </a:r>
          </a:p>
        </p:txBody>
      </p:sp>
      <p:sp>
        <p:nvSpPr>
          <p:cNvPr id="13" name="node-2">
            <a:extLst xmlns:a="http://schemas.openxmlformats.org/drawingml/2006/main">
              <a:ext uri="{FF2B5EF4-FFF2-40B4-BE49-F238E27FC236}">
                <a16:creationId xmlns:a16="http://schemas.microsoft.com/office/drawing/2014/main" id="{531D5E55-C862-4FFE-9304-68CCCC71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A5D99E68-406D-4AEC-B017-400EDE32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717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Airtable</a:t>
            </a:r>
          </a:p>
        </p:txBody>
      </p:sp>
      <p:sp>
        <p:nvSpPr>
          <p:cNvPr id="15" name="node-sub-2">
            <a:extLst xmlns:a="http://schemas.openxmlformats.org/drawingml/2006/main">
              <a:ext uri="{FF2B5EF4-FFF2-40B4-BE49-F238E27FC236}">
                <a16:creationId xmlns:a16="http://schemas.microsoft.com/office/drawing/2014/main" id="{F265E3CF-94F9-4360-8057-36681A6F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95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Données liées</a:t>
            </a:r>
          </a:p>
        </p:txBody>
      </p:sp>
      <p:sp>
        <p:nvSpPr>
          <p:cNvPr id="16" name="node-3">
            <a:extLst xmlns:a="http://schemas.openxmlformats.org/drawingml/2006/main">
              <a:ext uri="{FF2B5EF4-FFF2-40B4-BE49-F238E27FC236}">
                <a16:creationId xmlns:a16="http://schemas.microsoft.com/office/drawing/2014/main" id="{604941DA-D92A-4DE0-AAEC-BE37E4B4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372700C2-CED4-4BB8-A888-5B987F10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Drive</a:t>
            </a:r>
          </a:p>
        </p:txBody>
      </p:sp>
      <p:sp>
        <p:nvSpPr>
          <p:cNvPr id="18" name="node-sub-3">
            <a:extLst xmlns:a="http://schemas.openxmlformats.org/drawingml/2006/main">
              <a:ext uri="{FF2B5EF4-FFF2-40B4-BE49-F238E27FC236}">
                <a16:creationId xmlns:a16="http://schemas.microsoft.com/office/drawing/2014/main" id="{0DE9C25F-729C-4DD2-9C68-7786E89D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95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Fichiers client</a:t>
            </a:r>
          </a:p>
        </p:txBody>
      </p:sp>
      <p:sp>
        <p:nvSpPr>
          <p:cNvPr id="19" name="node-4">
            <a:extLst xmlns:a="http://schemas.openxmlformats.org/drawingml/2006/main">
              <a:ext uri="{FF2B5EF4-FFF2-40B4-BE49-F238E27FC236}">
                <a16:creationId xmlns:a16="http://schemas.microsoft.com/office/drawing/2014/main" id="{B94E77A0-435C-437A-A48A-4D180570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860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ode-title-4">
            <a:extLst xmlns:a="http://schemas.openxmlformats.org/drawingml/2006/main">
              <a:ext uri="{FF2B5EF4-FFF2-40B4-BE49-F238E27FC236}">
                <a16:creationId xmlns:a16="http://schemas.microsoft.com/office/drawing/2014/main" id="{6EC71A18-8CA7-48B6-BD04-4367BAC0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717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21" name="node-sub-4">
            <a:extLst xmlns:a="http://schemas.openxmlformats.org/drawingml/2006/main">
              <a:ext uri="{FF2B5EF4-FFF2-40B4-BE49-F238E27FC236}">
                <a16:creationId xmlns:a16="http://schemas.microsoft.com/office/drawing/2014/main" id="{2BD4EC6C-B493-4E20-AC82-03DB26E2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95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Consultation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47377E3D-1163-41D7-9D8D-08327DE3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 utilisateurs consultent Airtable ; ils n’ont pas besoin d’intervenir dans n8n ni dans la structure Drive.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EDE26EA1-B38D-4270-8979-0AFC995C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Projet GED NoCode · techdistriesgi@gmail.com</a:t>
            </a:r>
          </a:p>
        </p:txBody>
      </p:sp>
      <p:sp>
        <p:nvSpPr>
          <p:cNvPr id="24" name="page">
            <a:extLst xmlns:a="http://schemas.openxmlformats.org/drawingml/2006/main">
              <a:ext uri="{FF2B5EF4-FFF2-40B4-BE49-F238E27FC236}">
                <a16:creationId xmlns:a16="http://schemas.microsoft.com/office/drawing/2014/main" id="{24DEDE5B-A2F2-48BA-9ACD-97E6674D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02684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4131AFE7-131D-4684-8555-1FCEEC85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TECHDISTRI · NIVEAU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F9C7BC-CBC7-4FC5-A9C0-0BF1705E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Trois tables suffisent pour reconstituer tout l’historique</a:t>
            </a:r>
          </a:p>
        </p:txBody>
      </p:sp>
      <p:sp>
        <p:nvSpPr>
          <p:cNvPr id="3" name="col-h-0">
            <a:extLst xmlns:a="http://schemas.openxmlformats.org/drawingml/2006/main">
              <a:ext uri="{FF2B5EF4-FFF2-40B4-BE49-F238E27FC236}">
                <a16:creationId xmlns:a16="http://schemas.microsoft.com/office/drawing/2014/main" id="{5871ED9C-13DA-41C2-A3F0-046743DD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CLIENTS</a:t>
            </a:r>
          </a:p>
        </p:txBody>
      </p:sp>
      <p:sp>
        <p:nvSpPr>
          <p:cNvPr id="4" name="col-rule-0">
            <a:extLst xmlns:a="http://schemas.openxmlformats.org/drawingml/2006/main">
              <a:ext uri="{FF2B5EF4-FFF2-40B4-BE49-F238E27FC236}">
                <a16:creationId xmlns:a16="http://schemas.microsoft.com/office/drawing/2014/main" id="{6A4B217B-400D-41D5-9400-BF55F41A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D9B1398C-E45F-456B-9E2F-57FCA419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1937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68F6A2E6-D118-47E8-A903-0DF78B05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Clé de rapprochement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E9DB1A05-B973-4C33-89AF-3AF4A254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E7BF6AFC-8974-452D-8204-264A90D3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Domaine ou email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2EDAC748-B978-4331-BB18-FE27EA80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5287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E2B989D-0E60-45D4-9939-A375CB87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Dossier Drive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E1745D22-B230-47CC-AEEF-665E640D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6053F864-7F25-4D79-9A04-846111E0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Compteurs en cascade</a:t>
            </a:r>
          </a:p>
        </p:txBody>
      </p:sp>
      <p:sp>
        <p:nvSpPr>
          <p:cNvPr id="13" name="col-h-1">
            <a:extLst xmlns:a="http://schemas.openxmlformats.org/drawingml/2006/main">
              <a:ext uri="{FF2B5EF4-FFF2-40B4-BE49-F238E27FC236}">
                <a16:creationId xmlns:a16="http://schemas.microsoft.com/office/drawing/2014/main" id="{EDB77416-2250-49BE-9555-5E4A5C66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MAILS</a:t>
            </a:r>
          </a:p>
        </p:txBody>
      </p:sp>
      <p:sp>
        <p:nvSpPr>
          <p:cNvPr id="14" name="col-rule-1">
            <a:extLst xmlns:a="http://schemas.openxmlformats.org/drawingml/2006/main">
              <a:ext uri="{FF2B5EF4-FFF2-40B4-BE49-F238E27FC236}">
                <a16:creationId xmlns:a16="http://schemas.microsoft.com/office/drawing/2014/main" id="{BAE1B0CE-2DD1-40CC-BE50-3E2E6520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0">
            <a:extLst xmlns:a="http://schemas.openxmlformats.org/drawingml/2006/main">
              <a:ext uri="{FF2B5EF4-FFF2-40B4-BE49-F238E27FC236}">
                <a16:creationId xmlns:a16="http://schemas.microsoft.com/office/drawing/2014/main" id="{E3ACF7D4-E3B3-4511-A824-563A4078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1937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1FF62126-0BD4-4ABB-88BC-F38679F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Gmail Message ID</a:t>
            </a:r>
          </a:p>
        </p:txBody>
      </p:sp>
      <p:sp>
        <p:nvSpPr>
          <p:cNvPr id="17" name="bullet-1">
            <a:extLst xmlns:a="http://schemas.openxmlformats.org/drawingml/2006/main">
              <a:ext uri="{FF2B5EF4-FFF2-40B4-BE49-F238E27FC236}">
                <a16:creationId xmlns:a16="http://schemas.microsoft.com/office/drawing/2014/main" id="{91C09FE8-0113-466B-8BC3-D0F775D0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861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DB3E1101-4074-4E22-B7C4-960D3A80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8612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Sujet, date, corps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03B648EF-04A3-4E66-9661-45E654AF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5287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846A8D5-7D81-4D12-B234-47F1BE26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5287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Statut de traitement</a:t>
            </a:r>
          </a:p>
        </p:txBody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77188E2F-10B9-4B40-BE7A-97DD15DA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96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82FD97F0-D759-46E3-9081-B16C7660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1962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Lien vers le client</a:t>
            </a:r>
          </a:p>
        </p:txBody>
      </p:sp>
      <p:sp>
        <p:nvSpPr>
          <p:cNvPr id="23" name="col-h-2">
            <a:extLst xmlns:a="http://schemas.openxmlformats.org/drawingml/2006/main">
              <a:ext uri="{FF2B5EF4-FFF2-40B4-BE49-F238E27FC236}">
                <a16:creationId xmlns:a16="http://schemas.microsoft.com/office/drawing/2014/main" id="{572C0C2F-AC0F-499F-929F-91358D9A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FICHIERS</a:t>
            </a:r>
          </a:p>
        </p:txBody>
      </p:sp>
      <p:sp>
        <p:nvSpPr>
          <p:cNvPr id="24" name="col-rule-2">
            <a:extLst xmlns:a="http://schemas.openxmlformats.org/drawingml/2006/main">
              <a:ext uri="{FF2B5EF4-FFF2-40B4-BE49-F238E27FC236}">
                <a16:creationId xmlns:a16="http://schemas.microsoft.com/office/drawing/2014/main" id="{E211F932-4A75-4E28-BDA7-F718B5A6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050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0">
            <a:extLst xmlns:a="http://schemas.openxmlformats.org/drawingml/2006/main">
              <a:ext uri="{FF2B5EF4-FFF2-40B4-BE49-F238E27FC236}">
                <a16:creationId xmlns:a16="http://schemas.microsoft.com/office/drawing/2014/main" id="{59C8CB88-FA46-4929-B447-5A60ED87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A3A0B19-D460-428C-BA56-161F2017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1937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 et type MIME</a:t>
            </a:r>
          </a:p>
        </p:txBody>
      </p:sp>
      <p:sp>
        <p:nvSpPr>
          <p:cNvPr id="27" name="bullet-1">
            <a:extLst xmlns:a="http://schemas.openxmlformats.org/drawingml/2006/main">
              <a:ext uri="{FF2B5EF4-FFF2-40B4-BE49-F238E27FC236}">
                <a16:creationId xmlns:a16="http://schemas.microsoft.com/office/drawing/2014/main" id="{E187CF47-2B5E-42CB-B473-E3AF0C63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DB8AF4E-B9B2-4C5F-9580-F9A15E33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8612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URL Google Drive</a:t>
            </a:r>
          </a:p>
        </p:txBody>
      </p:sp>
      <p:sp>
        <p:nvSpPr>
          <p:cNvPr id="29" name="bullet-2">
            <a:extLst xmlns:a="http://schemas.openxmlformats.org/drawingml/2006/main">
              <a:ext uri="{FF2B5EF4-FFF2-40B4-BE49-F238E27FC236}">
                <a16:creationId xmlns:a16="http://schemas.microsoft.com/office/drawing/2014/main" id="{6445FC58-C4B0-4263-A83F-699CAB4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45875927-8774-4AAB-803D-B5AEA2C3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5287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Statut d’upload</a:t>
            </a:r>
          </a:p>
        </p:txBody>
      </p:sp>
      <p:sp>
        <p:nvSpPr>
          <p:cNvPr id="31" name="bullet-3">
            <a:extLst xmlns:a="http://schemas.openxmlformats.org/drawingml/2006/main">
              <a:ext uri="{FF2B5EF4-FFF2-40B4-BE49-F238E27FC236}">
                <a16:creationId xmlns:a16="http://schemas.microsoft.com/office/drawing/2014/main" id="{8C009432-462F-4E16-BF6B-36969D2C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96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5056D1FE-E6E6-4913-B3DF-7331DF0E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962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Lien vers le mail</a:t>
            </a:r>
          </a:p>
        </p:txBody>
      </p:sp>
      <p:sp>
        <p:nvSpPr>
          <p:cNvPr id="33" name="relation">
            <a:extLst xmlns:a="http://schemas.openxmlformats.org/drawingml/2006/main">
              <a:ext uri="{FF2B5EF4-FFF2-40B4-BE49-F238E27FC236}">
                <a16:creationId xmlns:a16="http://schemas.microsoft.com/office/drawing/2014/main" id="{29F586E7-FCE6-47C1-8353-E041E786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 client → N mails → N fichiers</a:t>
            </a:r>
          </a:p>
        </p:txBody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0AE48505-77B0-4D10-8196-D5C662B8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Projet GED NoCode · techdistriesgi@gmail.com</a:t>
            </a:r>
          </a:p>
        </p:txBody>
      </p:sp>
      <p:sp>
        <p:nvSpPr>
          <p:cNvPr id="35" name="page">
            <a:extLst xmlns:a="http://schemas.openxmlformats.org/drawingml/2006/main">
              <a:ext uri="{FF2B5EF4-FFF2-40B4-BE49-F238E27FC236}">
                <a16:creationId xmlns:a16="http://schemas.microsoft.com/office/drawing/2014/main" id="{C0B1896F-5237-4E8E-AC22-30548AD0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5652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C30D7831-5B37-48EF-82F4-FE9C8128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TECHDISTRI · NIVEAU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7736D1-91C6-4386-BB4B-BBCA3845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 workflow sécurise la donnée avant l’archivage</a:t>
            </a:r>
          </a:p>
        </p:txBody>
      </p:sp>
      <p:sp>
        <p:nvSpPr>
          <p:cNvPr id="3" name="n-0">
            <a:extLst xmlns:a="http://schemas.openxmlformats.org/drawingml/2006/main">
              <a:ext uri="{FF2B5EF4-FFF2-40B4-BE49-F238E27FC236}">
                <a16:creationId xmlns:a16="http://schemas.microsoft.com/office/drawing/2014/main" id="{A4CCCF07-E23D-45A5-BC2B-C5100F6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line-0">
            <a:extLst xmlns:a="http://schemas.openxmlformats.org/drawingml/2006/main">
              <a:ext uri="{FF2B5EF4-FFF2-40B4-BE49-F238E27FC236}">
                <a16:creationId xmlns:a16="http://schemas.microsoft.com/office/drawing/2014/main" id="{AF412476-4AD2-40A5-8D90-8DBB8DFC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-0">
            <a:extLst xmlns:a="http://schemas.openxmlformats.org/drawingml/2006/main">
              <a:ext uri="{FF2B5EF4-FFF2-40B4-BE49-F238E27FC236}">
                <a16:creationId xmlns:a16="http://schemas.microsoft.com/office/drawing/2014/main" id="{94197A6A-AB19-4274-B313-E0124CE0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0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Détecter</a:t>
            </a:r>
          </a:p>
        </p:txBody>
      </p:sp>
      <p:sp>
        <p:nvSpPr>
          <p:cNvPr id="6" name="d-0">
            <a:extLst xmlns:a="http://schemas.openxmlformats.org/drawingml/2006/main">
              <a:ext uri="{FF2B5EF4-FFF2-40B4-BE49-F238E27FC236}">
                <a16:creationId xmlns:a16="http://schemas.microsoft.com/office/drawing/2014/main" id="{92C4EFAA-5049-4C79-A621-0FE20FD5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Nouveau message</a:t>
            </a:r>
          </a:p>
        </p:txBody>
      </p:sp>
      <p:sp>
        <p:nvSpPr>
          <p:cNvPr id="7" name="n-1">
            <a:extLst xmlns:a="http://schemas.openxmlformats.org/drawingml/2006/main">
              <a:ext uri="{FF2B5EF4-FFF2-40B4-BE49-F238E27FC236}">
                <a16:creationId xmlns:a16="http://schemas.microsoft.com/office/drawing/2014/main" id="{61D56CC4-1102-4863-8BBE-A7E665C7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BC54516D-8871-49B9-9EF0-D4E673AF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432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-1">
            <a:extLst xmlns:a="http://schemas.openxmlformats.org/drawingml/2006/main">
              <a:ext uri="{FF2B5EF4-FFF2-40B4-BE49-F238E27FC236}">
                <a16:creationId xmlns:a16="http://schemas.microsoft.com/office/drawing/2014/main" id="{0DDA1F0F-268B-4960-A136-129D87CD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0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Dédupliquer</a:t>
            </a:r>
          </a:p>
        </p:txBody>
      </p:sp>
      <p:sp>
        <p:nvSpPr>
          <p:cNvPr id="10" name="d-1">
            <a:extLst xmlns:a="http://schemas.openxmlformats.org/drawingml/2006/main">
              <a:ext uri="{FF2B5EF4-FFF2-40B4-BE49-F238E27FC236}">
                <a16:creationId xmlns:a16="http://schemas.microsoft.com/office/drawing/2014/main" id="{567A891B-5062-4216-819E-61F63ED3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Gmail Message ID</a:t>
            </a:r>
          </a:p>
        </p:txBody>
      </p:sp>
      <p:sp>
        <p:nvSpPr>
          <p:cNvPr id="11" name="n-2">
            <a:extLst xmlns:a="http://schemas.openxmlformats.org/drawingml/2006/main">
              <a:ext uri="{FF2B5EF4-FFF2-40B4-BE49-F238E27FC236}">
                <a16:creationId xmlns:a16="http://schemas.microsoft.com/office/drawing/2014/main" id="{B8D49EBF-4A76-4C19-8F6F-B082241B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line-2">
            <a:extLst xmlns:a="http://schemas.openxmlformats.org/drawingml/2006/main">
              <a:ext uri="{FF2B5EF4-FFF2-40B4-BE49-F238E27FC236}">
                <a16:creationId xmlns:a16="http://schemas.microsoft.com/office/drawing/2014/main" id="{002D8471-54F4-4292-9B4B-B8C13CE5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-2">
            <a:extLst xmlns:a="http://schemas.openxmlformats.org/drawingml/2006/main">
              <a:ext uri="{FF2B5EF4-FFF2-40B4-BE49-F238E27FC236}">
                <a16:creationId xmlns:a16="http://schemas.microsoft.com/office/drawing/2014/main" id="{4DE2E959-7876-468C-B8D8-A0B9FA74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0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Identifier</a:t>
            </a:r>
          </a:p>
        </p:txBody>
      </p:sp>
      <p:sp>
        <p:nvSpPr>
          <p:cNvPr id="14" name="d-2">
            <a:extLst xmlns:a="http://schemas.openxmlformats.org/drawingml/2006/main">
              <a:ext uri="{FF2B5EF4-FFF2-40B4-BE49-F238E27FC236}">
                <a16:creationId xmlns:a16="http://schemas.microsoft.com/office/drawing/2014/main" id="{6291EB6D-F832-4975-AE49-D519BA1E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242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Client ou création</a:t>
            </a:r>
          </a:p>
        </p:txBody>
      </p:sp>
      <p:sp>
        <p:nvSpPr>
          <p:cNvPr id="15" name="n-3">
            <a:extLst xmlns:a="http://schemas.openxmlformats.org/drawingml/2006/main">
              <a:ext uri="{FF2B5EF4-FFF2-40B4-BE49-F238E27FC236}">
                <a16:creationId xmlns:a16="http://schemas.microsoft.com/office/drawing/2014/main" id="{E0952FE3-2DCA-4C51-A56C-B5428713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90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line-3">
            <a:extLst xmlns:a="http://schemas.openxmlformats.org/drawingml/2006/main">
              <a:ext uri="{FF2B5EF4-FFF2-40B4-BE49-F238E27FC236}">
                <a16:creationId xmlns:a16="http://schemas.microsoft.com/office/drawing/2014/main" id="{E989215E-9831-4CA8-AFF6-E562AB02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-3">
            <a:extLst xmlns:a="http://schemas.openxmlformats.org/drawingml/2006/main">
              <a:ext uri="{FF2B5EF4-FFF2-40B4-BE49-F238E27FC236}">
                <a16:creationId xmlns:a16="http://schemas.microsoft.com/office/drawing/2014/main" id="{28A9D4F3-16D7-40BD-A08B-687E0632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00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Archiver</a:t>
            </a:r>
          </a:p>
        </p:txBody>
      </p:sp>
      <p:sp>
        <p:nvSpPr>
          <p:cNvPr id="18" name="d-3">
            <a:extLst xmlns:a="http://schemas.openxmlformats.org/drawingml/2006/main">
              <a:ext uri="{FF2B5EF4-FFF2-40B4-BE49-F238E27FC236}">
                <a16:creationId xmlns:a16="http://schemas.microsoft.com/office/drawing/2014/main" id="{3C89CED3-7703-4960-8244-BA7C6D80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Chaque pièce jointe</a:t>
            </a:r>
          </a:p>
        </p:txBody>
      </p:sp>
      <p:sp>
        <p:nvSpPr>
          <p:cNvPr id="19" name="n-4">
            <a:extLst xmlns:a="http://schemas.openxmlformats.org/drawingml/2006/main">
              <a:ext uri="{FF2B5EF4-FFF2-40B4-BE49-F238E27FC236}">
                <a16:creationId xmlns:a16="http://schemas.microsoft.com/office/drawing/2014/main" id="{F6AE8DD6-FB3D-4C0A-BDF1-3230784C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line-4">
            <a:extLst xmlns:a="http://schemas.openxmlformats.org/drawingml/2006/main">
              <a:ext uri="{FF2B5EF4-FFF2-40B4-BE49-F238E27FC236}">
                <a16:creationId xmlns:a16="http://schemas.microsoft.com/office/drawing/2014/main" id="{07ADAB77-13A7-43C4-8875-ADF51220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432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-4">
            <a:extLst xmlns:a="http://schemas.openxmlformats.org/drawingml/2006/main">
              <a:ext uri="{FF2B5EF4-FFF2-40B4-BE49-F238E27FC236}">
                <a16:creationId xmlns:a16="http://schemas.microsoft.com/office/drawing/2014/main" id="{8FA71F83-BC18-4EA4-9FF5-15D222A9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0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Finaliser</a:t>
            </a:r>
          </a:p>
        </p:txBody>
      </p:sp>
      <p:sp>
        <p:nvSpPr>
          <p:cNvPr id="22" name="d-4">
            <a:extLst xmlns:a="http://schemas.openxmlformats.org/drawingml/2006/main">
              <a:ext uri="{FF2B5EF4-FFF2-40B4-BE49-F238E27FC236}">
                <a16:creationId xmlns:a16="http://schemas.microsoft.com/office/drawing/2014/main" id="{4797D889-828D-4DA7-824A-98B8FD74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242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Statut + libellé</a:t>
            </a:r>
          </a:p>
        </p:txBody>
      </p:sp>
      <p:sp>
        <p:nvSpPr>
          <p:cNvPr id="23" name="error-band">
            <a:extLst xmlns:a="http://schemas.openxmlformats.org/drawingml/2006/main">
              <a:ext uri="{FF2B5EF4-FFF2-40B4-BE49-F238E27FC236}">
                <a16:creationId xmlns:a16="http://schemas.microsoft.com/office/drawing/2014/main" id="{0F199A9A-0B18-4E52-A361-50DCE258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rror-copy">
            <a:extLst xmlns:a="http://schemas.openxmlformats.org/drawingml/2006/main">
              <a:ext uri="{FF2B5EF4-FFF2-40B4-BE49-F238E27FC236}">
                <a16:creationId xmlns:a16="http://schemas.microsoft.com/office/drawing/2014/main" id="{37EBEEF9-FB39-4FD2-90AC-EF160702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17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Une pièce jointe en erreur n’empêche pas les autres fichiers d’être traités.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090928EF-884F-4BF2-BBDA-4F73707D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Projet GED NoCode · techdistriesgi@gmail.com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C71B19DF-6B76-48A0-B676-1F7413EB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6711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C970E1B1-ED21-4FBF-B337-383C0D96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TECHDISTRI · NIVEAU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E0C007-4022-4CB4-9F1F-0534A061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Les cas limites deviennent visibles et rejouables</a:t>
            </a:r>
          </a:p>
        </p:txBody>
      </p:sp>
      <p:sp>
        <p:nvSpPr>
          <p:cNvPr id="3" name="left-h">
            <a:extLst xmlns:a="http://schemas.openxmlformats.org/drawingml/2006/main">
              <a:ext uri="{FF2B5EF4-FFF2-40B4-BE49-F238E27FC236}">
                <a16:creationId xmlns:a16="http://schemas.microsoft.com/office/drawing/2014/main" id="{F2083998-589B-4D2E-8A1C-31785098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Prévention</a:t>
            </a:r>
          </a:p>
        </p:txBody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4F805B07-A3DE-48B5-A253-2E1C4685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26294CB1-CFD5-467C-A1E6-650EABCE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43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Domaine professionnel regroupé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C37AD583-91C2-4F4F-9836-D71507B7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4EB1841C-43D0-48F0-A453-B6D72C28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43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Adresses Gmail séparées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614FE835-0B0B-4606-B357-51EDE82F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CC0E491A-FCCB-4486-9547-22E1E1E5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443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 de fichier rendu unique</a:t>
            </a:r>
          </a:p>
        </p:txBody>
      </p:sp>
      <p:sp>
        <p:nvSpPr>
          <p:cNvPr id="10" name="bullet-3">
            <a:extLst xmlns:a="http://schemas.openxmlformats.org/drawingml/2006/main">
              <a:ext uri="{FF2B5EF4-FFF2-40B4-BE49-F238E27FC236}">
                <a16:creationId xmlns:a16="http://schemas.microsoft.com/office/drawing/2014/main" id="{9FBF8E30-177B-4469-8B5D-68C2642F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4651908B-989C-4956-8F47-2835151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43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Rejeu sans nouveau Mail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6E0586CF-2E31-46A8-BFCF-6E2EEAFC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145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ight-h">
            <a:extLst xmlns:a="http://schemas.openxmlformats.org/drawingml/2006/main">
              <a:ext uri="{FF2B5EF4-FFF2-40B4-BE49-F238E27FC236}">
                <a16:creationId xmlns:a16="http://schemas.microsoft.com/office/drawing/2014/main" id="{E1CBF2A1-1D86-4D29-8C90-A4B8FEE6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Réaction à l’échec</a:t>
            </a:r>
          </a:p>
        </p:txBody>
      </p:sp>
      <p:sp>
        <p:nvSpPr>
          <p:cNvPr id="14" name="bullet-0">
            <a:extLst xmlns:a="http://schemas.openxmlformats.org/drawingml/2006/main">
              <a:ext uri="{FF2B5EF4-FFF2-40B4-BE49-F238E27FC236}">
                <a16:creationId xmlns:a16="http://schemas.microsoft.com/office/drawing/2014/main" id="{27DCE30E-3EFE-46BF-B79D-C19C7315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F538BFF-80B2-4E0E-A8F8-D48A0EF6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443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Trois tentatives Drive</a:t>
            </a:r>
          </a:p>
        </p:txBody>
      </p:sp>
      <p:sp>
        <p:nvSpPr>
          <p:cNvPr id="16" name="bullet-1">
            <a:extLst xmlns:a="http://schemas.openxmlformats.org/drawingml/2006/main">
              <a:ext uri="{FF2B5EF4-FFF2-40B4-BE49-F238E27FC236}">
                <a16:creationId xmlns:a16="http://schemas.microsoft.com/office/drawing/2014/main" id="{8598473D-1063-4AC4-A32E-F8D11856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EEEA8FD5-55A0-4B1E-94AA-86E07033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28950"/>
            <a:ext cx="443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Fichier conservé en ERREUR</a:t>
            </a:r>
          </a:p>
        </p:txBody>
      </p:sp>
      <p:sp>
        <p:nvSpPr>
          <p:cNvPr id="18" name="bullet-2">
            <a:extLst xmlns:a="http://schemas.openxmlformats.org/drawingml/2006/main">
              <a:ext uri="{FF2B5EF4-FFF2-40B4-BE49-F238E27FC236}">
                <a16:creationId xmlns:a16="http://schemas.microsoft.com/office/drawing/2014/main" id="{5BC1A992-ECDD-4AC1-8573-20697FDD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97F00AF3-5CBA-44E1-BAA1-015F1D8A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443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Mail PARTIEL ou ERREUR</a:t>
            </a:r>
          </a:p>
        </p:txBody>
      </p:sp>
      <p:sp>
        <p:nvSpPr>
          <p:cNvPr id="20" name="bullet-3">
            <a:extLst xmlns:a="http://schemas.openxmlformats.org/drawingml/2006/main">
              <a:ext uri="{FF2B5EF4-FFF2-40B4-BE49-F238E27FC236}">
                <a16:creationId xmlns:a16="http://schemas.microsoft.com/office/drawing/2014/main" id="{6283373D-AEFB-418F-9DC7-02C01DB4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14723A3A-8828-40C5-B2EC-7403AA73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443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Reprise manuelle dans WF01</a:t>
            </a:r>
          </a:p>
        </p:txBody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116FCDBD-05F9-4A45-9B28-C68CC278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Projet GED NoCode · techdistriesgi@gmail.com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233D3410-AE35-48FF-8E91-F5244D1A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76615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91441E17-F41B-4B40-9D4B-B5F79CE5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TECHDISTRI · NIVEAU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73CD3D-BF1D-4B3B-BA53-B91DA531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Même l’hypothèse prudente libère quatre journées par mois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6191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7627272b284c66"/>
          </a:graphicData>
        </a:graphic>
      </p:graphicFrame>
      <p:sp>
        <p:nvSpPr>
          <p:cNvPr id="4" name="roi-callout">
            <a:extLst xmlns:a="http://schemas.openxmlformats.org/drawingml/2006/main">
              <a:ext uri="{FF2B5EF4-FFF2-40B4-BE49-F238E27FC236}">
                <a16:creationId xmlns:a16="http://schemas.microsoft.com/office/drawing/2014/main" id="{E24A9D97-BD9B-4D03-B68D-377B8324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191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i-big">
            <a:extLst xmlns:a="http://schemas.openxmlformats.org/drawingml/2006/main">
              <a:ext uri="{FF2B5EF4-FFF2-40B4-BE49-F238E27FC236}">
                <a16:creationId xmlns:a16="http://schemas.microsoft.com/office/drawing/2014/main" id="{0EF752B0-E02C-4A12-973E-0FE815B8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82,5 h</a:t>
            </a:r>
          </a:p>
        </p:txBody>
      </p:sp>
      <p:sp>
        <p:nvSpPr>
          <p:cNvPr id="6" name="roi-sub">
            <a:extLst xmlns:a="http://schemas.openxmlformats.org/drawingml/2006/main">
              <a:ext uri="{FF2B5EF4-FFF2-40B4-BE49-F238E27FC236}">
                <a16:creationId xmlns:a16="http://schemas.microsoft.com/office/drawing/2014/main" id="{1A428E1B-4ABE-4999-B9A7-58BBED5F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scénario central / mois</a:t>
            </a:r>
          </a:p>
        </p:txBody>
      </p:sp>
      <p:sp>
        <p:nvSpPr>
          <p:cNvPr id="7" name="roi-meaning">
            <a:extLst xmlns:a="http://schemas.openxmlformats.org/drawingml/2006/main">
              <a:ext uri="{FF2B5EF4-FFF2-40B4-BE49-F238E27FC236}">
                <a16:creationId xmlns:a16="http://schemas.microsoft.com/office/drawing/2014/main" id="{149AB810-F7BB-45F0-90BE-5416A052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À l’année, cela représente environ 990 heures rendues à l’équipe commerciale.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53DE8FA-3AF7-4F74-BACE-06A36703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Projet GED NoCode · techdistriesgi@gmail.com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BB90B981-B161-41D7-92D5-2FCEA0C6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81850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5A86A5B4-A877-4844-B658-0B452708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TECHDISTRI · NIVEAU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257BDF-4F01-40B4-898F-6CF7CEFB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 soutenance prouve le niveau 2 en cinq emails</a:t>
            </a:r>
          </a:p>
        </p:txBody>
      </p:sp>
      <p:sp>
        <p:nvSpPr>
          <p:cNvPr id="3" name="check-0">
            <a:extLst xmlns:a="http://schemas.openxmlformats.org/drawingml/2006/main">
              <a:ext uri="{FF2B5EF4-FFF2-40B4-BE49-F238E27FC236}">
                <a16:creationId xmlns:a16="http://schemas.microsoft.com/office/drawing/2014/main" id="{DFE46876-8B51-48DC-AC5A-489D67EE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check-text-0">
            <a:extLst xmlns:a="http://schemas.openxmlformats.org/drawingml/2006/main">
              <a:ext uri="{FF2B5EF4-FFF2-40B4-BE49-F238E27FC236}">
                <a16:creationId xmlns:a16="http://schemas.microsoft.com/office/drawing/2014/main" id="{F56A95C1-FB15-44FE-B501-1E692C61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668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expéditeurs, dont 2 du même domaine</a:t>
            </a:r>
          </a:p>
        </p:txBody>
      </p:sp>
      <p:sp>
        <p:nvSpPr>
          <p:cNvPr id="5" name="check-num-0">
            <a:extLst xmlns:a="http://schemas.openxmlformats.org/drawingml/2006/main">
              <a:ext uri="{FF2B5EF4-FFF2-40B4-BE49-F238E27FC236}">
                <a16:creationId xmlns:a16="http://schemas.microsoft.com/office/drawing/2014/main" id="{F233F7EB-80BD-4941-AEFF-18898787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66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0A8300A9-F787-41C8-B082-3BFB7726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79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check-text-1">
            <a:extLst xmlns:a="http://schemas.openxmlformats.org/drawingml/2006/main">
              <a:ext uri="{FF2B5EF4-FFF2-40B4-BE49-F238E27FC236}">
                <a16:creationId xmlns:a16="http://schemas.microsoft.com/office/drawing/2014/main" id="{267DE8AF-EE96-47AD-9982-990D0C0B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4792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0, 1 puis plusieurs pièces jointes</a:t>
            </a:r>
          </a:p>
        </p:txBody>
      </p:sp>
      <p:sp>
        <p:nvSpPr>
          <p:cNvPr id="8" name="check-num-1">
            <a:extLst xmlns:a="http://schemas.openxmlformats.org/drawingml/2006/main">
              <a:ext uri="{FF2B5EF4-FFF2-40B4-BE49-F238E27FC236}">
                <a16:creationId xmlns:a16="http://schemas.microsoft.com/office/drawing/2014/main" id="{76CA262C-F4FE-443E-8E3E-3B4C85E5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479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eck-2">
            <a:extLst xmlns:a="http://schemas.openxmlformats.org/drawingml/2006/main">
              <a:ext uri="{FF2B5EF4-FFF2-40B4-BE49-F238E27FC236}">
                <a16:creationId xmlns:a16="http://schemas.microsoft.com/office/drawing/2014/main" id="{70D1A38D-F927-4AB2-AF9B-82F99F2D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check-text-2">
            <a:extLst xmlns:a="http://schemas.openxmlformats.org/drawingml/2006/main">
              <a:ext uri="{FF2B5EF4-FFF2-40B4-BE49-F238E27FC236}">
                <a16:creationId xmlns:a16="http://schemas.microsoft.com/office/drawing/2014/main" id="{296F8685-A820-4220-BFE5-491539D5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289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Client, Mail et Fichier reliés sans doublon</a:t>
            </a:r>
          </a:p>
        </p:txBody>
      </p:sp>
      <p:sp>
        <p:nvSpPr>
          <p:cNvPr id="11" name="check-num-2">
            <a:extLst xmlns:a="http://schemas.openxmlformats.org/drawingml/2006/main">
              <a:ext uri="{FF2B5EF4-FFF2-40B4-BE49-F238E27FC236}">
                <a16:creationId xmlns:a16="http://schemas.microsoft.com/office/drawing/2014/main" id="{194E605F-5AB0-4538-B9B1-FFC923B3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289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check-3">
            <a:extLst xmlns:a="http://schemas.openxmlformats.org/drawingml/2006/main">
              <a:ext uri="{FF2B5EF4-FFF2-40B4-BE49-F238E27FC236}">
                <a16:creationId xmlns:a16="http://schemas.microsoft.com/office/drawing/2014/main" id="{B92D3E71-C34E-43A6-BC0A-FB996E52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check-text-3">
            <a:extLst xmlns:a="http://schemas.openxmlformats.org/drawingml/2006/main">
              <a:ext uri="{FF2B5EF4-FFF2-40B4-BE49-F238E27FC236}">
                <a16:creationId xmlns:a16="http://schemas.microsoft.com/office/drawing/2014/main" id="{036E1A13-709F-457F-8F71-0607C819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002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Lien Drive ouvert depuis Airtable</a:t>
            </a:r>
          </a:p>
        </p:txBody>
      </p:sp>
      <p:sp>
        <p:nvSpPr>
          <p:cNvPr id="14" name="check-num-3">
            <a:extLst xmlns:a="http://schemas.openxmlformats.org/drawingml/2006/main">
              <a:ext uri="{FF2B5EF4-FFF2-40B4-BE49-F238E27FC236}">
                <a16:creationId xmlns:a16="http://schemas.microsoft.com/office/drawing/2014/main" id="{2FD062AD-6861-4FDC-BCEB-ECC42F3B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10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check-4">
            <a:extLst xmlns:a="http://schemas.openxmlformats.org/drawingml/2006/main">
              <a:ext uri="{FF2B5EF4-FFF2-40B4-BE49-F238E27FC236}">
                <a16:creationId xmlns:a16="http://schemas.microsoft.com/office/drawing/2014/main" id="{21089C23-AD16-47A4-AA56-3ACDD9E7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check-text-4">
            <a:extLst xmlns:a="http://schemas.openxmlformats.org/drawingml/2006/main">
              <a:ext uri="{FF2B5EF4-FFF2-40B4-BE49-F238E27FC236}">
                <a16:creationId xmlns:a16="http://schemas.microsoft.com/office/drawing/2014/main" id="{1E5360D8-050D-4654-9466-3E4962E5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910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Échec simulé puis reprise manuelle WF01</a:t>
            </a:r>
          </a:p>
        </p:txBody>
      </p:sp>
      <p:sp>
        <p:nvSpPr>
          <p:cNvPr id="17" name="check-num-4">
            <a:extLst xmlns:a="http://schemas.openxmlformats.org/drawingml/2006/main">
              <a:ext uri="{FF2B5EF4-FFF2-40B4-BE49-F238E27FC236}">
                <a16:creationId xmlns:a16="http://schemas.microsoft.com/office/drawing/2014/main" id="{CE4DDF47-7D33-4B16-97F3-8F793C99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910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6D3A90B1-4D8C-46A1-ACE0-1812E0C5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Projet GED NoCode · techdistriesgi@gmail.com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1EC744B2-7268-4A55-A9DB-5C1D4851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06733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E250CD2-E1B1-42F8-9B60-46B02B05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16B"/>
                </a:solidFill>
                <a:latin typeface="Arial"/>
                <a:ea typeface="Arial"/>
                <a:cs typeface="Arial"/>
              </a:rPr>
              <a:t>PROCHAINE DÉCISION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FA8B091-BA5A-47BE-8E43-C66F30D8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Valider le niveau 2 avant d’ajouter l’IA</a:t>
            </a:r>
          </a:p>
        </p:txBody>
      </p:sp>
      <p:sp>
        <p:nvSpPr>
          <p:cNvPr id="3" name="close-copy">
            <a:extLst xmlns:a="http://schemas.openxmlformats.org/drawingml/2006/main">
              <a:ext uri="{FF2B5EF4-FFF2-40B4-BE49-F238E27FC236}">
                <a16:creationId xmlns:a16="http://schemas.microsoft.com/office/drawing/2014/main" id="{98CEDEEA-0A65-4C92-9FEC-B99BF57B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Classification des emails   2. Extraction structurée   3. Alerte devis 48 h   4. Workflow d’erreur dédié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483F8ABF-0C8F-4307-8DF4-2FECA043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8DBF4A52-FF55-41BD-B805-806B51DF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Objectif immédiat : réussir la recette T01–T12 et sécuriser la démo.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25022F1-0D61-4FF3-A0A0-02B0E206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Projet GED NoCode · techdistriesgi@gmail.com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D5892C9-520C-43D2-BC16-A42F607E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05650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2026-09-09T17:41:04.0230000Z</dcterms:created>
  <dcterms:modified xsi:type="dcterms:W3CDTF">2026-09-09T17:41:04.0230000Z</dcterms:modified>
</coreProperties>
</file>